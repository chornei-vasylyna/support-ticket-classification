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Inter Medium" panose="020B0604020202020204" charset="0"/>
      <p:regular r:id="rId20"/>
      <p:bold r:id="rId21"/>
      <p:italic r:id="rId22"/>
      <p:boldItalic r:id="rId23"/>
    </p:embeddedFont>
    <p:embeddedFont>
      <p:font typeface="Inter SemiBold" panose="020B0604020202020204" charset="0"/>
      <p:regular r:id="rId24"/>
      <p:bold r:id="rId25"/>
      <p:italic r:id="rId26"/>
      <p:boldItalic r:id="rId27"/>
    </p:embeddedFont>
    <p:embeddedFont>
      <p:font typeface="Montserrat" panose="00000500000000000000" pitchFamily="2" charset="-52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99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 (g3d59bbbd53a_20_0)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>
  <p:cSld name="Blank (g3d59bbbd53a_64_0)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jp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/>
          <p:nvPr/>
        </p:nvSpPr>
        <p:spPr>
          <a:xfrm>
            <a:off x="-2857500" y="4000500"/>
            <a:ext cx="5715000" cy="5715000"/>
          </a:xfrm>
          <a:prstGeom prst="ellipse">
            <a:avLst/>
          </a:prstGeom>
          <a:solidFill>
            <a:srgbClr val="3B82F6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8382000" y="-3810000"/>
            <a:ext cx="7620000" cy="7620000"/>
          </a:xfrm>
          <a:prstGeom prst="ellipse">
            <a:avLst/>
          </a:prstGeom>
          <a:solidFill>
            <a:srgbClr val="3B82F6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15"/>
          <p:cNvGrpSpPr/>
          <p:nvPr/>
        </p:nvGrpSpPr>
        <p:grpSpPr>
          <a:xfrm>
            <a:off x="762000" y="762000"/>
            <a:ext cx="10668000" cy="2476500"/>
            <a:chOff x="762000" y="762000"/>
            <a:chExt cx="10668000" cy="2476500"/>
          </a:xfrm>
        </p:grpSpPr>
        <p:sp>
          <p:nvSpPr>
            <p:cNvPr id="95" name="Google Shape;95;p15"/>
            <p:cNvSpPr/>
            <p:nvPr/>
          </p:nvSpPr>
          <p:spPr>
            <a:xfrm>
              <a:off x="762000" y="762000"/>
              <a:ext cx="106680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5"/>
            <p:cNvSpPr txBox="1"/>
            <p:nvPr/>
          </p:nvSpPr>
          <p:spPr>
            <a:xfrm>
              <a:off x="762000" y="1333500"/>
              <a:ext cx="10668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90" b="1" dirty="0" err="1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Автоматизація</a:t>
              </a:r>
              <a:r>
                <a:rPr lang="en-US" sz="4590" b="1" dirty="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4590" b="1" dirty="0" err="1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обробки</a:t>
              </a:r>
              <a:r>
                <a:rPr lang="en-US" sz="4590" b="1" dirty="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4590" b="1" dirty="0" err="1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звернень</a:t>
              </a:r>
              <a:endParaRPr sz="4590" b="1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ctr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785" b="0" dirty="0" err="1">
                  <a:solidFill>
                    <a:srgbClr val="3B82F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Інтелектуальна</a:t>
              </a:r>
              <a:r>
                <a:rPr lang="en-US" sz="1785" b="0" dirty="0">
                  <a:solidFill>
                    <a:srgbClr val="3B82F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1785" b="0" dirty="0" err="1">
                  <a:solidFill>
                    <a:srgbClr val="3B82F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система</a:t>
              </a:r>
              <a:r>
                <a:rPr lang="en-US" sz="1785" b="0" dirty="0">
                  <a:solidFill>
                    <a:srgbClr val="3B82F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1785" b="0" dirty="0" err="1">
                  <a:solidFill>
                    <a:srgbClr val="3B82F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класифікації</a:t>
              </a:r>
              <a:r>
                <a:rPr lang="en-US" sz="1785" b="0" dirty="0">
                  <a:solidFill>
                    <a:srgbClr val="3B82F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1785" b="0" dirty="0" err="1">
                  <a:solidFill>
                    <a:srgbClr val="3B82F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та</a:t>
              </a:r>
              <a:r>
                <a:rPr lang="en-US" sz="1785" b="0" dirty="0">
                  <a:solidFill>
                    <a:srgbClr val="3B82F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1785" b="0" dirty="0" err="1">
                  <a:solidFill>
                    <a:srgbClr val="3B82F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маршрутизації</a:t>
              </a:r>
              <a:r>
                <a:rPr lang="en-US" sz="1785" b="0" dirty="0">
                  <a:solidFill>
                    <a:srgbClr val="3B82F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1785" b="0" dirty="0" err="1">
                  <a:solidFill>
                    <a:srgbClr val="3B82F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запитів</a:t>
              </a:r>
              <a:endParaRPr sz="1785" b="0" dirty="0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97" name="Google Shape;97;p15"/>
          <p:cNvSpPr txBox="1"/>
          <p:nvPr/>
        </p:nvSpPr>
        <p:spPr>
          <a:xfrm>
            <a:off x="5143500" y="3507658"/>
            <a:ext cx="19050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880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🤖</a:t>
            </a:r>
            <a:endParaRPr sz="8800" dirty="0">
              <a:solidFill>
                <a:srgbClr val="3B82F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952500" y="571500"/>
            <a:ext cx="11001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У чому саме проблема?</a:t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762000" y="571500"/>
            <a:ext cx="57300" cy="439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762000" y="1910655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Більшість компаній розбирають заявки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вручну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Це призводить до критичних недоліків:</a:t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596700" y="5290600"/>
            <a:ext cx="537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Результат: повільна та нестабільна первинна обробка.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1095375" y="2710755"/>
            <a:ext cx="47148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Співробітник витрачає час на читання кожного повідомлення.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1095375" y="3463230"/>
            <a:ext cx="47148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Людський фактор: помилки при визначенні відділу.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1095375" y="4215705"/>
            <a:ext cx="4714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Затримки в обробці термінових запитів.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1095375" y="4663380"/>
            <a:ext cx="4714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Зниження якості клієнтського сервісу.</a:t>
            </a:r>
            <a:endParaRPr/>
          </a:p>
        </p:txBody>
      </p:sp>
      <p:pic>
        <p:nvPicPr>
          <p:cNvPr id="110" name="Google Shape;11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71075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346323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421570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466338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4">
            <a:alphaModFix/>
          </a:blip>
          <a:srcRect t="16667" b="16667"/>
          <a:stretch/>
        </p:blipFill>
        <p:spPr>
          <a:xfrm>
            <a:off x="6570950" y="2127038"/>
            <a:ext cx="4572000" cy="3048000"/>
          </a:xfrm>
          <a:prstGeom prst="roundRect">
            <a:avLst>
              <a:gd name="adj" fmla="val 5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568922"/>
            <a:ext cx="2524125" cy="2541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6625" y="2568922"/>
            <a:ext cx="2524125" cy="2541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1250" y="2568922"/>
            <a:ext cx="2524125" cy="2541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05875" y="2568922"/>
            <a:ext cx="2524125" cy="2541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90229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48187" y="290229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62812" y="290229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53625" y="290229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952500" y="571500"/>
            <a:ext cx="1100137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Які потреби у користувачів?</a:t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762000" y="571500"/>
            <a:ext cx="57150" cy="43993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1008935" y="3521422"/>
            <a:ext cx="203025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Швидкість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1057275" y="3930997"/>
            <a:ext cx="19335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Миттєве визначення типу звернення без очікування.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3723560" y="3521422"/>
            <a:ext cx="203025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Точність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3771900" y="3930997"/>
            <a:ext cx="19335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Автоматичне скерування заявки у відповідний процес.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438185" y="3521422"/>
            <a:ext cx="203025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Прозорість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486525" y="3930997"/>
            <a:ext cx="19335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Статистика по категоріях.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9152810" y="3521422"/>
            <a:ext cx="203025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Простота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201150" y="3930997"/>
            <a:ext cx="193357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 dirty="0">
                <a:solidFill>
                  <a:srgbClr val="475569"/>
                </a:solidFill>
                <a:latin typeface="Inter"/>
                <a:ea typeface="Inter"/>
                <a:sym typeface="Inter"/>
              </a:rPr>
              <a:t>Інтуїтивний інтерфейс з підказками.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8"/>
          <p:cNvPicPr preferRelativeResize="0"/>
          <p:nvPr/>
        </p:nvPicPr>
        <p:blipFill rotWithShape="1">
          <a:blip r:embed="rId3">
            <a:alphaModFix/>
          </a:blip>
          <a:srcRect t="150" b="150"/>
          <a:stretch/>
        </p:blipFill>
        <p:spPr>
          <a:xfrm>
            <a:off x="762000" y="2244033"/>
            <a:ext cx="5048400" cy="31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34467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34467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952500" y="571500"/>
            <a:ext cx="11001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Як працює запропоноване рішення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762000" y="571500"/>
            <a:ext cx="57300" cy="439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1143000" y="2625030"/>
            <a:ext cx="4500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Алгоритм роботи: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1143000" y="3000375"/>
            <a:ext cx="4572000" cy="23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1.Надходження повідомлення в систему.</a:t>
            </a:r>
            <a:endParaRPr/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2.Попередня обробка тексту (NLP).</a:t>
            </a:r>
            <a:endParaRPr/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3.Класифікація: технічна, фінансова чи інфо.</a:t>
            </a:r>
            <a:endParaRPr/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4.Автоматич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не виведення результату користувачу</a:t>
            </a:r>
            <a:r>
              <a:rPr lang="en-US" sz="15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5.Збереження даних для аналітики.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/>
        </p:nvSpPr>
        <p:spPr>
          <a:xfrm>
            <a:off x="762000" y="2891730"/>
            <a:ext cx="4038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762000" y="4510980"/>
            <a:ext cx="4038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Секунд на сортування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952500" y="571500"/>
            <a:ext cx="1100137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Чому це вирішує проблему?</a:t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762000" y="571500"/>
            <a:ext cx="57150" cy="43993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5372100" y="2815530"/>
            <a:ext cx="6057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Головна цінність 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повна автоматизація старту. Система працює 24/7 з однаковою швидкістю та стабільністю.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5705475" y="3615630"/>
            <a:ext cx="5724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Відсутність затримок при пікових навантаженнях.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5705475" y="4063305"/>
            <a:ext cx="57245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Співробітники фокусуються на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вирішенні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а не на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сортуванні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5705475" y="4815780"/>
            <a:ext cx="5724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Мінімізація помилок маршрутизації.</a:t>
            </a:r>
            <a:endParaRPr/>
          </a:p>
        </p:txBody>
      </p:sp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72100" y="361563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72100" y="406330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72100" y="481578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087909"/>
            <a:ext cx="3365450" cy="3503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3200" y="2087909"/>
            <a:ext cx="3365450" cy="3503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2087909"/>
            <a:ext cx="3365599" cy="3503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08475" y="2383184"/>
            <a:ext cx="27749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59675" y="2383184"/>
            <a:ext cx="2775049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08475" y="2383184"/>
            <a:ext cx="27749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383184"/>
            <a:ext cx="2775049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952500" y="571500"/>
            <a:ext cx="1100137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Переваги програмного забезпечення</a:t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762000" y="571500"/>
            <a:ext cx="57150" cy="43993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1057275" y="4002434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Для клієнта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1057275" y="4412009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Швидша відповідь та точне попадання до потрібного спеціаліста.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4708475" y="4002434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Для команди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4708475" y="4412009"/>
            <a:ext cx="27749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Менше рутини, краще планування та вища ефективність роботи.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8359675" y="4002434"/>
            <a:ext cx="291380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Для бізнесу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8359675" y="4412009"/>
            <a:ext cx="277504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Якість сервісу, контроль через аналітику та масштабованість.</a:t>
            </a:r>
            <a:endParaRPr/>
          </a:p>
        </p:txBody>
      </p:sp>
      <p:pic>
        <p:nvPicPr>
          <p:cNvPr id="184" name="Google Shape;184;p20"/>
          <p:cNvPicPr preferRelativeResize="0"/>
          <p:nvPr/>
        </p:nvPicPr>
        <p:blipFill rotWithShape="1">
          <a:blip r:embed="rId10">
            <a:alphaModFix/>
          </a:blip>
          <a:srcRect t="130" b="140"/>
          <a:stretch/>
        </p:blipFill>
        <p:spPr>
          <a:xfrm>
            <a:off x="1162388" y="2421275"/>
            <a:ext cx="2564669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/>
        </p:nvSpPr>
        <p:spPr>
          <a:xfrm>
            <a:off x="952500" y="571500"/>
            <a:ext cx="110013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Вимоги: Вартість впровадження</a:t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762000" y="571500"/>
            <a:ext cx="57300" cy="439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762000" y="5315842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* При наявності сучасної ІТ-інфраструктури витрати будуть мінімальними.</a:t>
            </a:r>
            <a:endParaRPr/>
          </a:p>
        </p:txBody>
      </p:sp>
      <p:pic>
        <p:nvPicPr>
          <p:cNvPr id="192" name="Google Shape;192;p21" descr="дай мені тільки ту частину що замість таблиці"/>
          <p:cNvPicPr preferRelativeResize="0"/>
          <p:nvPr/>
        </p:nvPicPr>
        <p:blipFill rotWithShape="1">
          <a:blip r:embed="rId3">
            <a:alphaModFix/>
          </a:blip>
          <a:srcRect t="21088" b="20756"/>
          <a:stretch/>
        </p:blipFill>
        <p:spPr>
          <a:xfrm>
            <a:off x="1137599" y="1635688"/>
            <a:ext cx="9439050" cy="305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1125" y="1934467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1125" y="193446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952500" y="571500"/>
            <a:ext cx="1100137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Підготовка кадрів та техніка</a:t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762000" y="571500"/>
            <a:ext cx="57150" cy="43993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6381750" y="1753492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Персонал: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6381750" y="2163067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Достатньо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1–2 днів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інструктажу. Система автоматизує лише перший етап, не змінюючи звичний робочий процес оператора.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6381750" y="3363217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Технічні вимоги: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6381750" y="512534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Масштабне оновлення обладнання зазвичай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не потрібне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6715125" y="3734692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Стандартний сервер або хмарне середовище.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6715125" y="4182367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Стабільний доступ до мережі Інтернет.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6715125" y="4630042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Підключення до каналу отримання звернень.</a:t>
            </a:r>
            <a:endParaRPr/>
          </a:p>
        </p:txBody>
      </p:sp>
      <p:pic>
        <p:nvPicPr>
          <p:cNvPr id="208" name="Google Shape;20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73469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18236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630042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0" y="-1905000"/>
            <a:ext cx="5715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0" y="2850802"/>
            <a:ext cx="2857500" cy="1944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850802"/>
            <a:ext cx="2857500" cy="194488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495300" y="805011"/>
            <a:ext cx="112014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Висновок та перспективи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2286000" y="1738461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Розроблене ПЗ закриває реальну практичну проблему: повільну та неточну первинну обробку звернень.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762000" y="5557688"/>
            <a:ext cx="10668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Дяку</a:t>
            </a:r>
            <a:r>
              <a:rPr lang="uk-UA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ю</a:t>
            </a: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за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увагу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!</a:t>
            </a:r>
            <a:endParaRPr dirty="0"/>
          </a:p>
        </p:txBody>
      </p:sp>
      <p:sp>
        <p:nvSpPr>
          <p:cNvPr id="221" name="Google Shape;221;p23"/>
          <p:cNvSpPr txBox="1"/>
          <p:nvPr/>
        </p:nvSpPr>
        <p:spPr>
          <a:xfrm>
            <a:off x="3333750" y="3374677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Майбутнє: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3333750" y="3869977"/>
            <a:ext cx="2286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Додавання нових категорій та самонавчання моделі.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6572250" y="3374677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Інтеграція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endParaRPr dirty="0"/>
          </a:p>
        </p:txBody>
      </p:sp>
      <p:sp>
        <p:nvSpPr>
          <p:cNvPr id="224" name="Google Shape;224;p23"/>
          <p:cNvSpPr txBox="1"/>
          <p:nvPr/>
        </p:nvSpPr>
        <p:spPr>
          <a:xfrm>
            <a:off x="6429300" y="3869975"/>
            <a:ext cx="25719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Можлива нтеграція з існуючими системами компанії</a:t>
            </a:r>
            <a:endParaRPr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326</Words>
  <Application>Microsoft Office PowerPoint</Application>
  <PresentationFormat>Широкий екран</PresentationFormat>
  <Paragraphs>57</Paragraphs>
  <Slides>9</Slides>
  <Notes>9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</vt:i4>
      </vt:variant>
    </vt:vector>
  </HeadingPairs>
  <TitlesOfParts>
    <vt:vector size="17" baseType="lpstr">
      <vt:lpstr>Arial</vt:lpstr>
      <vt:lpstr>Inter</vt:lpstr>
      <vt:lpstr>Montserrat</vt:lpstr>
      <vt:lpstr>Inter SemiBold</vt:lpstr>
      <vt:lpstr>Material Icons</vt:lpstr>
      <vt:lpstr>Calibri</vt:lpstr>
      <vt:lpstr>Inter Medium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cp:lastModifiedBy>Василина Чорней</cp:lastModifiedBy>
  <cp:revision>2</cp:revision>
  <dcterms:modified xsi:type="dcterms:W3CDTF">2026-04-12T17:20:44Z</dcterms:modified>
</cp:coreProperties>
</file>