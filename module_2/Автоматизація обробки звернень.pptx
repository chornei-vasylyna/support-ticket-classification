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ato Light" panose="020F0502020204030203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SemiBold" panose="000007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C2CBCF-FA8E-4545-B18E-E0F59B25A4A0}">
  <a:tblStyle styleId="{D6C2CBCF-FA8E-4545-B18E-E0F59B25A4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presProps" Target="presProp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996529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50531" y="2949029"/>
            <a:ext cx="7490936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Автоматизація обробки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звернень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28886" y="4621708"/>
            <a:ext cx="71342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Інтелектуальна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система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класифікації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та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маршрутизації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У чому саме проблема?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638423"/>
            <a:ext cx="52863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Більшість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компаній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розбирають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заявки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вручну</a:t>
            </a:r>
            <a:r>
              <a:rPr lang="uk-UA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Це призводить до критичних недоліків:</a:t>
            </a:r>
            <a:endParaRPr dirty="0"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3414712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Повільна первинна обробка.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824287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Витрати часу на кожне повідомлення.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233862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Помилки при визначенні відділу.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643437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Затримки термінових запитів.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57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67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767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863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2687"/>
            <a:ext cx="2583656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2452687"/>
            <a:ext cx="2583656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452687"/>
            <a:ext cx="2583656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36843" y="2452687"/>
            <a:ext cx="2583656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Які потреби у користувачів?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119957" y="3376612"/>
            <a:ext cx="14865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Швидкість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3871912"/>
            <a:ext cx="2012156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Миттєве визначення типу звернення без очікування.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088944" y="3376612"/>
            <a:ext cx="11921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Точність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679031" y="3871912"/>
            <a:ext cx="2012156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Автоматичне скерування заявки у відповідний процес.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28359" y="3376612"/>
            <a:ext cx="155691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Прозорість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00812" y="3871912"/>
            <a:ext cx="20121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Статистика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категоріях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685626" y="3376612"/>
            <a:ext cx="12859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Простота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322593" y="3871912"/>
            <a:ext cx="20121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Інтуїтивний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інтерфейс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з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підказками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96640" y="28146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4609" y="2814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6390" y="2814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61984" y="2814637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2009775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Як працює рішення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9432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Надходження повідомлення в систему.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33242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Попередня обробка тексту (NLP).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37052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Класифікація: техпідтримка, фінанси, інфо.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4086225"/>
            <a:ext cx="4953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Автоматичне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виведення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результату</a:t>
            </a:r>
            <a:r>
              <a:rPr lang="uk-UA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користувачу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44672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5. Збереження даних для аналітики.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Миттєвий результат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847975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4562475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Секунд на сортування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334125" y="30575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Чому це працює?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34125" y="3552825"/>
            <a:ext cx="5286375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Система працює 24/7 з однаковою швидкістю. Відсутність затримок при пікових навантаженнях дозволяє співробітникам фокусуватися на вирішенні проблем, а не на сортуванні пошти.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5619750" y="2757487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0" y="3100387"/>
            <a:ext cx="121920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Фінансові показники та впровадження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0" y="4005262"/>
            <a:ext cx="1219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 Light"/>
                <a:ea typeface="Lato Light"/>
                <a:cs typeface="Lato Light"/>
                <a:sym typeface="Lato Light"/>
              </a:rPr>
              <a:t>Розрахунок інвестицій у автоматизацію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Вартість впровадження системи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5460652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 Кінцева вартість залежить від масштабу проекту та кількості категорій класифікації.</a:t>
            </a:r>
            <a:endParaRPr/>
          </a:p>
        </p:txBody>
      </p:sp>
      <p:graphicFrame>
        <p:nvGraphicFramePr>
          <p:cNvPr id="169" name="Google Shape;169;p19"/>
          <p:cNvGraphicFramePr/>
          <p:nvPr/>
        </p:nvGraphicFramePr>
        <p:xfrm>
          <a:off x="571500" y="2003077"/>
          <a:ext cx="11049000" cy="3267125"/>
        </p:xfrm>
        <a:graphic>
          <a:graphicData uri="http://schemas.openxmlformats.org/drawingml/2006/table">
            <a:tbl>
              <a:tblPr firstRow="1" bandRow="1">
                <a:noFill/>
                <a:tableStyleId>{D6C2CBCF-FA8E-4545-B18E-E0F59B25A4A0}</a:tableStyleId>
              </a:tblPr>
              <a:tblGrid>
                <a:gridCol w="232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Етап / Компонент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Опис послуг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Орієнтовна ціна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Пілотний етап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Базове налаштування та тестування на обмеженій вибірці даних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$1,200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Інтеграція (API)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Підключення до існуючих CRM, месенджерів та поштових каналів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$3,500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Техпідтримка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Щомісячний моніторинг моделі та донавчання на нових даних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$450 / міс.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Інфраструктура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Витрати на хмарні сервери (AWS / Azure) за стандартний об'єм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від $120 / міс.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" name="Google Shape;170;p19"/>
          <p:cNvSpPr/>
          <p:nvPr/>
        </p:nvSpPr>
        <p:spPr>
          <a:xfrm>
            <a:off x="571500" y="3298477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892028" y="3298477"/>
            <a:ext cx="6539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9431684" y="3298477"/>
            <a:ext cx="21888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1500" y="3955702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892028" y="3955702"/>
            <a:ext cx="6539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9431684" y="3955702"/>
            <a:ext cx="21888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4612927"/>
            <a:ext cx="2320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892028" y="4612927"/>
            <a:ext cx="6539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9431684" y="4612927"/>
            <a:ext cx="21888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885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Підготовка кадрів та техніка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2885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572000" y="2752725"/>
            <a:ext cx="7400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Персонал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572000" y="3248025"/>
            <a:ext cx="7048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Достатньо 1–2 днів інструктажу. Система лише автоматизує перший етап, не змінюючи звичний робочий процес оператора.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4571999" y="4138612"/>
            <a:ext cx="7400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Технічні</a:t>
            </a:r>
            <a:r>
              <a:rPr lang="en-US" sz="2100" b="1" i="0" u="none" strike="noStrike" cap="none" dirty="0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вимоги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4572000" y="4538662"/>
            <a:ext cx="7048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Масштабне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оновлення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обладнання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потрібне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Необхідний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стабільний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доступ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мережі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стандартне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хмарне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середовище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35242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90787"/>
            <a:ext cx="35242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90787"/>
            <a:ext cx="352425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Переваги програмного забезпечення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8146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525242" y="3338512"/>
            <a:ext cx="161676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Для клієнта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57250" y="3833812"/>
            <a:ext cx="2952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Швидша відповідь та точне попадання до потрібного фахівця з першої спроби.</a:t>
            </a:r>
            <a:endParaRPr/>
          </a:p>
        </p:txBody>
      </p:sp>
      <p:pic>
        <p:nvPicPr>
          <p:cNvPr id="205" name="Google Shape;20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146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204486" y="3338512"/>
            <a:ext cx="178287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Для команди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619625" y="3833812"/>
            <a:ext cx="2952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Менше рутинної роботи, краще планування та вища ефективність кожного працівника.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4062" y="28146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9046558" y="3338512"/>
            <a:ext cx="162348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Для бізнесу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382000" y="3833812"/>
            <a:ext cx="2952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Контроль через аналітику, масштабованість та значне покращення якості сервісу.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Порівняння ефективності обробки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4238625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Висновок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Автоматизація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дозволяє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обробляти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в 1000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разів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більше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запитів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той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самий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проміжок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часу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без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залучення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додаткового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персоналу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Висновок</a:t>
            </a:r>
            <a:r>
              <a:rPr lang="en-US" sz="315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та</a:t>
            </a:r>
            <a:r>
              <a:rPr lang="en-US" sz="315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перспективи</a:t>
            </a:r>
            <a:endParaRPr dirty="0"/>
          </a:p>
        </p:txBody>
      </p:sp>
      <p:sp>
        <p:nvSpPr>
          <p:cNvPr id="227" name="Google Shape;227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2742278" y="2019300"/>
            <a:ext cx="670744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Розроблене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ПЗ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закриває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критичну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проблему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бізнесу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: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повільну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та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неточну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первинну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обробку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ru-RU" sz="2000" b="1" dirty="0" err="1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звернень</a:t>
            </a:r>
            <a:r>
              <a:rPr lang="ru-RU" sz="2000" b="1" dirty="0">
                <a:solidFill>
                  <a:srgbClr val="8C8C8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.</a:t>
            </a:r>
            <a:endParaRPr lang="ru-RU" sz="2000" b="1" dirty="0">
              <a:solidFill>
                <a:srgbClr val="8C8C8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5" name="Google Shape;216;p23" descr="image.png">
            <a:extLst>
              <a:ext uri="{FF2B5EF4-FFF2-40B4-BE49-F238E27FC236}">
                <a16:creationId xmlns:a16="http://schemas.microsoft.com/office/drawing/2014/main" id="{97F05AB6-E2F2-49A4-A985-DF9A3A828E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0376" y="3429000"/>
            <a:ext cx="2857500" cy="1944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17;p23" descr="image.png">
            <a:extLst>
              <a:ext uri="{FF2B5EF4-FFF2-40B4-BE49-F238E27FC236}">
                <a16:creationId xmlns:a16="http://schemas.microsoft.com/office/drawing/2014/main" id="{6957033A-8A0C-44DD-9DFD-C46FDD4095D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6" y="3429000"/>
            <a:ext cx="2857500" cy="19448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21;p23">
            <a:extLst>
              <a:ext uri="{FF2B5EF4-FFF2-40B4-BE49-F238E27FC236}">
                <a16:creationId xmlns:a16="http://schemas.microsoft.com/office/drawing/2014/main" id="{F690809A-8BAE-45FD-B9E7-9D16440D338F}"/>
              </a:ext>
            </a:extLst>
          </p:cNvPr>
          <p:cNvSpPr txBox="1"/>
          <p:nvPr/>
        </p:nvSpPr>
        <p:spPr>
          <a:xfrm>
            <a:off x="3286126" y="3952875"/>
            <a:ext cx="2286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Майбутнє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endParaRPr sz="1600" dirty="0"/>
          </a:p>
        </p:txBody>
      </p:sp>
      <p:sp>
        <p:nvSpPr>
          <p:cNvPr id="18" name="Google Shape;222;p23">
            <a:extLst>
              <a:ext uri="{FF2B5EF4-FFF2-40B4-BE49-F238E27FC236}">
                <a16:creationId xmlns:a16="http://schemas.microsoft.com/office/drawing/2014/main" id="{104EAC09-B771-4DFE-902A-F14891323AB0}"/>
              </a:ext>
            </a:extLst>
          </p:cNvPr>
          <p:cNvSpPr txBox="1"/>
          <p:nvPr/>
        </p:nvSpPr>
        <p:spPr>
          <a:xfrm>
            <a:off x="3286126" y="4448175"/>
            <a:ext cx="2286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Додавання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нових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категорій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та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самонавчання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моделі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Google Shape;223;p23">
            <a:extLst>
              <a:ext uri="{FF2B5EF4-FFF2-40B4-BE49-F238E27FC236}">
                <a16:creationId xmlns:a16="http://schemas.microsoft.com/office/drawing/2014/main" id="{EE7DCB18-61E1-488C-A133-D4FFDF4B500B}"/>
              </a:ext>
            </a:extLst>
          </p:cNvPr>
          <p:cNvSpPr txBox="1"/>
          <p:nvPr/>
        </p:nvSpPr>
        <p:spPr>
          <a:xfrm>
            <a:off x="6524626" y="3952875"/>
            <a:ext cx="2286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Інтеграція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endParaRPr sz="1600" dirty="0"/>
          </a:p>
        </p:txBody>
      </p:sp>
      <p:sp>
        <p:nvSpPr>
          <p:cNvPr id="20" name="Google Shape;224;p23">
            <a:extLst>
              <a:ext uri="{FF2B5EF4-FFF2-40B4-BE49-F238E27FC236}">
                <a16:creationId xmlns:a16="http://schemas.microsoft.com/office/drawing/2014/main" id="{D5FFDCD9-C542-4F45-AA53-9D1DB35B58F1}"/>
              </a:ext>
            </a:extLst>
          </p:cNvPr>
          <p:cNvSpPr txBox="1"/>
          <p:nvPr/>
        </p:nvSpPr>
        <p:spPr>
          <a:xfrm>
            <a:off x="6381676" y="4448173"/>
            <a:ext cx="2571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Можлива</a:t>
            </a:r>
            <a:r>
              <a:rPr lang="en-US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uk-UA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і</a:t>
            </a:r>
            <a:r>
              <a:rPr lang="en-US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нтеграція</a:t>
            </a:r>
            <a:r>
              <a:rPr lang="en-US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з </a:t>
            </a:r>
            <a:r>
              <a:rPr lang="en-US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існуючими</a:t>
            </a:r>
            <a:r>
              <a:rPr lang="en-US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системами</a:t>
            </a:r>
            <a:r>
              <a:rPr lang="en-US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nter"/>
              </a:rPr>
              <a:t>компанії</a:t>
            </a:r>
            <a:endParaRPr sz="16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75569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3612096" y="2758530"/>
            <a:ext cx="4967808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Дякую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за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увагу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392</Words>
  <Application>Microsoft Office PowerPoint</Application>
  <PresentationFormat>Широкий екран</PresentationFormat>
  <Paragraphs>69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20" baseType="lpstr">
      <vt:lpstr>Inter SemiBold</vt:lpstr>
      <vt:lpstr>Lato Light</vt:lpstr>
      <vt:lpstr>Poppins SemiBold</vt:lpstr>
      <vt:lpstr>Poppins</vt:lpstr>
      <vt:lpstr>Calibri</vt:lpstr>
      <vt:lpstr>Lato</vt:lpstr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cp:lastModifiedBy>Василина Чорней</cp:lastModifiedBy>
  <cp:revision>2</cp:revision>
  <dcterms:modified xsi:type="dcterms:W3CDTF">2026-04-21T19:38:19Z</dcterms:modified>
</cp:coreProperties>
</file>